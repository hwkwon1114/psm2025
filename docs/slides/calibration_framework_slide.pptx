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3A5F"/>
                </a:solidFill>
                <a:latin typeface="Calibri"/>
              </a:rPr>
              <a:t>Calibration framework: growth parameters from the final 3D scan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E75B6"/>
                </a:solidFill>
                <a:latin typeface="Calibri"/>
              </a:rPr>
              <a:t>θ  →  growth-metric forward simulation  →  material-frame shape score vs. scan  →  GP surrogate + batch qLogEI  →  next 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623560" cy="260604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2700">
            <a:solidFill>
              <a:srgbClr val="C5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" y="1188720"/>
            <a:ext cx="329184" cy="329184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161288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3A5F"/>
                </a:solidFill>
                <a:latin typeface="Calibri"/>
              </a:rPr>
              <a:t>Parameters &amp; search space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02920" y="1554480"/>
                <a:ext cx="5349240" cy="2103120"/>
              </a:xfrm>
              <a:prstGeom prst="rect">
                <a:avLst/>
              </a:prstGeom>
              <a:noFill/>
            </p:spPr>
            <p:txBody>
              <a:bodyPr wrap="square" lIns="45720" rIns="45720" tIns="0" bIns="0">
                <a:spAutoFit/>
              </a:bodyPr>
              <a:lstStyle/>
              <a:p>
                <a:pPr algn="l">
                  <a:spcBef>
                    <a:spcPts val="0"/>
                  </a:spcBef>
                </a:pPr>
                <a:r>
                  <a:rPr sz="1150">
                    <a:solidFill>
                      <a:srgbClr val="444444"/>
                    </a:solidFill>
                    <a:latin typeface="Calibri"/>
                  </a:rPr>
                  <a:t>Four per-pass growth parameters of the bilayer shell model (top/bottom growth, top/bottom orthotropy):</a:t>
                </a:r>
              </a:p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m:rPr>
                          <m:sty m:val="b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θ</m:t>
                      </m:r>
                      <m:r>
                        <m:rPr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sSub>
                            <m:e>
                              <m: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g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o</m:t>
                              </m:r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p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,</m:t>
                          </m:r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 </m:t>
                          </m:r>
                          <m:sSub>
                            <m:e>
                              <m: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g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b</m:t>
                              </m:r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o</m:t>
                              </m:r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,</m:t>
                          </m:r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 </m:t>
                          </m:r>
                          <m:sSub>
                            <m:e>
                              <m: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o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o</m:t>
                              </m:r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p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,</m:t>
                          </m:r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 </m:t>
                          </m:r>
                          <m:sSub>
                            <m:e>
                              <m: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o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b</m:t>
                              </m:r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o</m:t>
                              </m:r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  <a:p>
                <a:pPr algn="l">
                  <a:spcBef>
                    <a:spcPts val="300"/>
                  </a:spcBef>
                </a:pPr>
                <a:r>
                  <a:rPr sz="1150">
                    <a:solidFill>
                      <a:srgbClr val="444444"/>
                    </a:solidFill>
                    <a:latin typeface="Calibri"/>
                  </a:rPr>
                  <a:t>Optimized in the unit cube x ∈ [0,1]⁴: logarithmic in growth, linear in orthotropy.</a:t>
                </a:r>
              </a:p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sSub>
                        <m:e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nor/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ln</m:t>
                          </m:r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g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r>
                            <m:rPr>
                              <m:nor/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ln</m:t>
                          </m:r>
                          <m:sSub>
                            <m:e>
                              <m: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g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min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nor/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ln</m:t>
                          </m:r>
                          <m:sSub>
                            <m:e>
                              <m: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g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max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r>
                            <m:rPr>
                              <m:nor/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ln</m:t>
                          </m:r>
                          <m:sSub>
                            <m:e>
                              <m: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g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min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,</m:t>
                      </m:r>
                      <m: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  </m:t>
                      </m:r>
                      <m:sSub>
                        <m:e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o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o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</a:p>
              <a:p>
                <a:pPr algn="l">
                  <a:spcBef>
                    <a:spcPts val="300"/>
                  </a:spcBef>
                </a:pPr>
                <a:r>
                  <a:rPr sz="1150">
                    <a:solidFill>
                      <a:srgbClr val="444444"/>
                    </a:solidFill>
                    <a:latin typeface="Calibri"/>
                  </a:rPr>
                  <a:t>Bounds: g_top ∈ [5×10⁻⁵, 10⁻²],  g_bot ∈ [10⁻⁵, 10⁻³],  o_top, o_bot ∈ [−1, 1].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02920" y="1554480"/>
                <a:ext cx="5349240" cy="2103120"/>
              </a:xfrm>
              <a:prstGeom prst="rect">
                <a:avLst/>
              </a:prstGeom>
              <a:noFill/>
            </p:spPr>
            <p:txBody>
              <a:bodyPr wrap="square" lIns="45720" rIns="45720" tIns="0" bIns="0">
                <a:spAutoFit/>
              </a:bodyPr>
              <a:lstStyle/>
              <a:p>
                <a:pPr algn="l">
                  <a:spcBef>
                    <a:spcPts val="0"/>
                  </a:spcBef>
                </a:pPr>
                <a:r>
                  <a:rPr sz="1150">
                    <a:solidFill>
                      <a:srgbClr val="444444"/>
                    </a:solidFill>
                    <a:latin typeface="Calibri"/>
                  </a:rPr>
                  <a:t>Four per-pass growth parameters of the bilayer shell model (top/bottom growth, top/bottom orthotropy):</a:t>
                </a:r>
              </a:p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sz="1400" i="1"/>
                  <a:t>θ = (g_top, g_bot, o_top, o_bot)</a:t>
                </a:r>
              </a:p>
              <a:p>
                <a:pPr algn="l">
                  <a:spcBef>
                    <a:spcPts val="300"/>
                  </a:spcBef>
                </a:pPr>
                <a:r>
                  <a:rPr sz="1150">
                    <a:solidFill>
                      <a:srgbClr val="444444"/>
                    </a:solidFill>
                    <a:latin typeface="Calibri"/>
                  </a:rPr>
                  <a:t>Optimized in the unit cube x ∈ [0,1]⁴: logarithmic in growth, linear in orthotropy.</a:t>
                </a:r>
              </a:p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sz="1400" i="1"/>
                  <a:t>x_g = (ln g − ln g_min)/(ln g_max − ln g_min), x_o = (o+1)/2</a:t>
                </a:r>
              </a:p>
              <a:p>
                <a:pPr algn="l">
                  <a:spcBef>
                    <a:spcPts val="300"/>
                  </a:spcBef>
                </a:pPr>
                <a:r>
                  <a:rPr sz="1150">
                    <a:solidFill>
                      <a:srgbClr val="444444"/>
                    </a:solidFill>
                    <a:latin typeface="Calibri"/>
                  </a:rPr>
                  <a:t>Bounds: g_top ∈ [5×10⁻⁵, 10⁻²],  g_bot ∈ [10⁻⁵, 10⁻³],  o_top, o_bot ∈ [−1, 1].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6199632" y="1097280"/>
            <a:ext cx="5623560" cy="260604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2700">
            <a:solidFill>
              <a:srgbClr val="C5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09360" y="1188720"/>
            <a:ext cx="329184" cy="329184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2552" y="1161288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3A5F"/>
                </a:solidFill>
                <a:latin typeface="Calibri"/>
              </a:rPr>
              <a:t>Forward model: zigzag toolpath → bilayer shell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1554480"/>
                <a:ext cx="5349240" cy="2103120"/>
              </a:xfrm>
              <a:prstGeom prst="rect">
                <a:avLst/>
              </a:prstGeom>
              <a:noFill/>
            </p:spPr>
            <p:txBody>
              <a:bodyPr wrap="square" lIns="45720" rIns="45720" tIns="0" bIns="0">
                <a:spAutoFit/>
              </a:bodyPr>
              <a:lstStyle/>
              <a:p>
                <a:pPr algn="l">
                  <a:spcBef>
                    <a:spcPts val="0"/>
                  </a:spcBef>
                </a:pPr>
                <a:r>
                  <a:rPr sz="1150">
                    <a:solidFill>
                      <a:srgbClr val="444444"/>
                    </a:solidFill>
                    <a:latin typeface="Calibri"/>
                  </a:rPr>
                  <a:t>Run6: 68-strip zigzag pass repeated 29×. Each hit on face f grows the target metrics, with hit-count (Voce) decay:</a:t>
                </a:r>
              </a:p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sSub>
                        <m:e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q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β</m:t>
                          </m:r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,</m:t>
                      </m:r>
                      <m: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 </m:t>
                      </m:r>
                      <m: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β</m:t>
                      </m:r>
                      <m:r>
                        <m:rPr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r>
                        <m:rPr>
                          <m:nor/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ln</m:t>
                      </m:r>
                      <m: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1.25</m:t>
                      </m:r>
                      <m:r>
                        <m:rPr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,</m:t>
                      </m:r>
                      <m: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  </m:t>
                      </m:r>
                      <m:sSubSup>
                        <m:e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,</m:t>
                          </m:r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ℓ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q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 </m:t>
                      </m:r>
                      <m:sSub>
                        <m:e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ℓ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±</m:t>
                          </m:r>
                          <m:sSub>
                            <m:e>
                              <m: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o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ℓ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,</m:t>
                      </m:r>
                      <m: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 </m:t>
                      </m:r>
                      <m:r>
                        <m:rPr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ℓ</m:t>
                      </m:r>
                      <m:r>
                        <m:rPr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{</m:t>
                      </m:r>
                      <m:r>
                        <m:rPr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}</m:t>
                      </m:r>
                    </m:oMath>
                  </m:oMathPara>
                </a14:m>
              </a:p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sSub>
                        <m:e>
                          <m:acc>
                            <m:accPr>
                              <m:chr m:val="‾"/>
                            </m:accPr>
                            <m:e>
                              <m:r>
                                <m:rPr>
                                  <m:sty m:val="b"/>
                                </m:rP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a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ℓ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←</m:t>
                      </m:r>
                      <m:sSup>
                        <m:e>
                          <m:r>
                            <m:rPr>
                              <m:sty m:val="b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T</m:t>
                          </m:r>
                        </m:e>
                        <m:sup>
                          <m:r>
                            <m:rPr>
                              <m:sty m:val="p"/>
                              <m:scr m:val="sans-serif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T</m:t>
                          </m:r>
                        </m:sup>
                      </m:sSup>
                      <m:sSub>
                        <m:e>
                          <m:acc>
                            <m:accPr>
                              <m:chr m:val="‾"/>
                            </m:accPr>
                            <m:e>
                              <m:r>
                                <m:rPr>
                                  <m:sty m:val="b"/>
                                </m:rP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a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ℓ</m:t>
                          </m:r>
                        </m:sub>
                      </m:sSub>
                      <m: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 </m:t>
                      </m:r>
                      <m:r>
                        <m:rPr>
                          <m:sty m:val="b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,</m:t>
                      </m:r>
                      <m: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 </m:t>
                      </m:r>
                      <m:r>
                        <m:rPr>
                          <m:sty m:val="b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e>
                          <m:r>
                            <m:rPr>
                              <m:sty m:val="b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m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sup>
                      </m:sSubSup>
                      <m:sSub>
                        <m:e>
                          <m:r>
                            <m:rPr>
                              <m:sty m:val="b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ϕ</m:t>
                          </m:r>
                        </m:sub>
                      </m:sSub>
                      <m: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 </m:t>
                      </m:r>
                      <m:r>
                        <m:rPr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d</m:t>
                      </m:r>
                      <m:r>
                        <m:rPr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g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Sup>
                            <m:e>
                              <m: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g</m:t>
                              </m:r>
                            </m:e>
                            <m:sub>
                              <m: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ℓ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,</m:t>
                          </m:r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 </m:t>
                          </m:r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Sup>
                            <m:e>
                              <m: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g</m:t>
                              </m:r>
                            </m:e>
                            <m:sub>
                              <m: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ℓ</m:t>
                              </m:r>
                            </m:sup>
                          </m:sSubSup>
                        </m:e>
                      </m:d>
                      <m:sSubSup>
                        <m:e>
                          <m:r>
                            <m:rPr>
                              <m:sty m:val="b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ϕ</m:t>
                          </m:r>
                        </m:sub>
                        <m:sup>
                          <m:r>
                            <m:rPr>
                              <m:sty m:val="p"/>
                              <m:scr m:val="sans-serif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T</m:t>
                          </m:r>
                        </m:sup>
                      </m:sSubSup>
                      <m:sSub>
                        <m:e>
                          <m:r>
                            <m:rPr>
                              <m:sty m:val="b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m</m:t>
                          </m:r>
                        </m:sub>
                      </m:sSub>
                    </m:oMath>
                  </m:oMathPara>
                </a14:m>
              </a:p>
              <a:p>
                <a:pPr algn="l">
                  <a:spcBef>
                    <a:spcPts val="300"/>
                  </a:spcBef>
                </a:pPr>
                <a:r>
                  <a:rPr sz="1150">
                    <a:solidFill>
                      <a:srgbClr val="444444"/>
                    </a:solidFill>
                    <a:latin typeface="Calibri"/>
                  </a:rPr>
                  <a:t>After all passes, solve elastic equilibrium once (native hybrid solver, ‖∇E‖ ≤ 5×10⁻¹⁴):</a:t>
                </a:r>
              </a:p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sSup>
                        <m:e>
                          <m:r>
                            <m:rPr>
                              <m:sty m:val="b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*</m:t>
                          </m:r>
                        </m:sup>
                      </m:sSup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rPr>
                              <m:sty m:val="b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θ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r>
                        <m:rPr>
                          <m:nor/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arg</m:t>
                      </m:r>
                      <m:limLow>
                        <m:e>
                          <m:r>
                            <m:rPr>
                              <m:nor/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min</m:t>
                          </m:r>
                        </m:e>
                        <m:lim>
                          <m:r>
                            <m:rPr>
                              <m:sty m:val="b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x</m:t>
                          </m:r>
                        </m:lim>
                      </m:limLow>
                      <m: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 </m:t>
                      </m:r>
                      <m:sSub>
                        <m:e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y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e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r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rPr>
                              <m:sty m:val="b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;</m:t>
                          </m:r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 </m:t>
                          </m:r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rPr>
                                      <m:sty m:val="b"/>
                                    </m:rPr>
                                    <a:rPr lang="en-US" sz="1400">
                                      <a:solidFill>
                                        <a:srgbClr val="1A1A1A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o</m:t>
                              </m:r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p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,</m:t>
                          </m:r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 </m:t>
                          </m:r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rPr>
                                      <m:sty m:val="b"/>
                                    </m:rPr>
                                    <a:rPr lang="en-US" sz="1400">
                                      <a:solidFill>
                                        <a:srgbClr val="1A1A1A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b</m:t>
                              </m:r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o</m:t>
                              </m:r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1554480"/>
                <a:ext cx="5349240" cy="2103120"/>
              </a:xfrm>
              <a:prstGeom prst="rect">
                <a:avLst/>
              </a:prstGeom>
              <a:noFill/>
            </p:spPr>
            <p:txBody>
              <a:bodyPr wrap="square" lIns="45720" rIns="45720" tIns="0" bIns="0">
                <a:spAutoFit/>
              </a:bodyPr>
              <a:lstStyle/>
              <a:p>
                <a:pPr algn="l">
                  <a:spcBef>
                    <a:spcPts val="0"/>
                  </a:spcBef>
                </a:pPr>
                <a:r>
                  <a:rPr sz="1150">
                    <a:solidFill>
                      <a:srgbClr val="444444"/>
                    </a:solidFill>
                    <a:latin typeface="Calibri"/>
                  </a:rPr>
                  <a:t>Run6: 68-strip zigzag pass repeated 29×. Each hit on face f grows the target metrics, with hit-count (Voce) decay:</a:t>
                </a:r>
              </a:p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sz="1400" i="1"/>
                  <a:t>q_n = exp(−βn), β = ln 1.25;  g_{1,2}^ℓ = q_n g_ℓ (1 ± o_ℓ)</a:t>
                </a:r>
              </a:p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sz="1400" i="1"/>
                  <a:t>ā_ℓ ← Tᵀ ā_ℓ T,  T = D_m⁻¹ R_φ diag(1+g₁, 1+g₂) R_φᵀ D_m</a:t>
                </a:r>
              </a:p>
              <a:p>
                <a:pPr algn="l">
                  <a:spcBef>
                    <a:spcPts val="300"/>
                  </a:spcBef>
                </a:pPr>
                <a:r>
                  <a:rPr sz="1150">
                    <a:solidFill>
                      <a:srgbClr val="444444"/>
                    </a:solidFill>
                    <a:latin typeface="Calibri"/>
                  </a:rPr>
                  <a:t>After all passes, solve elastic equilibrium once (native hybrid solver, ‖∇E‖ ≤ 5×10⁻¹⁴):</a:t>
                </a:r>
              </a:p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sz="1400" i="1"/>
                  <a:t>x*(θ) = argmin_x E_bilayer(x; ā_top, ā_bot)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365760" y="3840480"/>
            <a:ext cx="5623560" cy="260604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2700">
            <a:solidFill>
              <a:srgbClr val="C5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" y="3931920"/>
            <a:ext cx="329184" cy="329184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904488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3A5F"/>
                </a:solidFill>
                <a:latin typeface="Calibri"/>
              </a:rPr>
              <a:t>Shape score against the 3D scan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502920" y="4297680"/>
                <a:ext cx="5349240" cy="2103120"/>
              </a:xfrm>
              <a:prstGeom prst="rect">
                <a:avLst/>
              </a:prstGeom>
              <a:noFill/>
            </p:spPr>
            <p:txBody>
              <a:bodyPr wrap="square" lIns="45720" rIns="45720" tIns="0" bIns="0">
                <a:spAutoFit/>
              </a:bodyPr>
              <a:lstStyle/>
              <a:p>
                <a:pPr algn="l">
                  <a:spcBef>
                    <a:spcPts val="0"/>
                  </a:spcBef>
                </a:pPr>
                <a:r>
                  <a:rPr sz="1150">
                    <a:solidFill>
                      <a:srgbClr val="444444"/>
                    </a:solidFill>
                    <a:latin typeface="Calibri"/>
                  </a:rPr>
                  <a:t>Rigid frame set by the material reference, not fitted to the scan: Kabsch rotation of deformed onto flat reference vertices; area-weighted centroid removed; scan centered.</a:t>
                </a:r>
              </a:p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m:rPr>
                          <m:sty m:val="b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r>
                        <m:rPr>
                          <m:nor/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arg</m:t>
                      </m:r>
                      <m:limLow>
                        <m:e>
                          <m:r>
                            <m:rPr>
                              <m:nor/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min</m:t>
                          </m:r>
                        </m:e>
                        <m:lim>
                          <m:r>
                            <m:rPr>
                              <m:sty m:val="b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R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∈</m:t>
                          </m:r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S</m:t>
                          </m:r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O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3</m:t>
                              </m:r>
                            </m:e>
                          </m:d>
                        </m:lim>
                      </m:limLow>
                      <m:nary>
                        <m:naryPr>
                          <m:chr m:val="∑"/>
                          <m:limLoc m:val="undOvr"/>
                          <m:subHide m:val="0"/>
                          <m:supHide m:val="1"/>
                        </m:naryPr>
                        <m:sub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j</m:t>
                          </m:r>
                        </m:sub>
                        <m:sup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​</m:t>
                          </m:r>
                        </m:sup>
                        <m:e>
                          <m:sSup>
                            <m:e>
                              <m:d>
                                <m:dPr>
                                  <m:begChr m:val="∥"/>
                                  <m:endChr m:val="∥"/>
                                  <m:sepChr m:val=""/>
                                  <m:grow/>
                                </m:dPr>
                                <m:e>
                                  <m:r>
                                    <m:rPr>
                                      <m:sty m:val="b"/>
                                    </m:rPr>
                                    <a:rPr lang="en-US" sz="1400">
                                      <a:solidFill>
                                        <a:srgbClr val="1A1A1A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R</m:t>
                                  </m:r>
                                  <m:d>
                                    <m:dPr>
                                      <m:begChr m:val="("/>
                                      <m:endChr m:val=")"/>
                                      <m:sepChr m:val=""/>
                                      <m:grow/>
                                    </m:dPr>
                                    <m:e>
                                      <m:sSub>
                                        <m:e>
                                          <m:r>
                                            <m:rPr>
                                              <m:sty m:val="b"/>
                                            </m:rPr>
                                            <a:rPr lang="en-US" sz="1400">
                                              <a:solidFill>
                                                <a:srgbClr val="1A1A1A"/>
                                              </a:solidFill>
                                              <a:latin typeface="Cambria Math"/>
                                              <a:cs typeface="Cambria Math"/>
                                            </a:rPr>
                                            <m:t>p</m:t>
                                          </m:r>
                                        </m:e>
                                        <m:sub>
                                          <m:r>
                                            <a:rPr lang="en-US" sz="1400">
                                              <a:solidFill>
                                                <a:srgbClr val="1A1A1A"/>
                                              </a:solidFill>
                                              <a:latin typeface="Cambria Math"/>
                                              <a:cs typeface="Cambria Math"/>
                                            </a:rPr>
                                            <m:t>j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solidFill>
                                            <a:srgbClr val="1A1A1A"/>
                                          </a:solidFill>
                                          <a:latin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‾"/>
                                        </m:accPr>
                                        <m:e>
                                          <m:r>
                                            <m:rPr>
                                              <m:sty m:val="b"/>
                                            </m:rPr>
                                            <a:rPr lang="en-US" sz="1400">
                                              <a:solidFill>
                                                <a:srgbClr val="1A1A1A"/>
                                              </a:solidFill>
                                              <a:latin typeface="Cambria Math"/>
                                              <a:cs typeface="Cambria Math"/>
                                            </a:rPr>
                                            <m:t>p</m:t>
                                          </m:r>
                                        </m:e>
                                      </m:acc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solidFill>
                                        <a:srgbClr val="1A1A1A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("/>
                                      <m:endChr m:val=")"/>
                                      <m:sepChr m:val=""/>
                                      <m:grow/>
                                    </m:dPr>
                                    <m:e>
                                      <m:sSub>
                                        <m:e>
                                          <m:r>
                                            <m:rPr>
                                              <m:sty m:val="b"/>
                                            </m:rPr>
                                            <a:rPr lang="en-US" sz="1400">
                                              <a:solidFill>
                                                <a:srgbClr val="1A1A1A"/>
                                              </a:solidFill>
                                              <a:latin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lang="en-US" sz="1400">
                                              <a:solidFill>
                                                <a:srgbClr val="1A1A1A"/>
                                              </a:solidFill>
                                              <a:latin typeface="Cambria Math"/>
                                              <a:cs typeface="Cambria Math"/>
                                            </a:rPr>
                                            <m:t>j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solidFill>
                                            <a:srgbClr val="1A1A1A"/>
                                          </a:solidFill>
                                          <a:latin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‾"/>
                                        </m:accPr>
                                        <m:e>
                                          <m:r>
                                            <m:rPr>
                                              <m:sty m:val="b"/>
                                            </m:rPr>
                                            <a:rPr lang="en-US" sz="1400">
                                              <a:solidFill>
                                                <a:srgbClr val="1A1A1A"/>
                                              </a:solidFill>
                                              <a:latin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</a:p>
              <a:p>
                <a:pPr algn="l">
                  <a:spcBef>
                    <a:spcPts val="300"/>
                  </a:spcBef>
                </a:pPr>
                <a:r>
                  <a:rPr sz="1150">
                    <a:solidFill>
                      <a:srgbClr val="444444"/>
                    </a:solidFill>
                    <a:latin typeface="Calibri"/>
                  </a:rPr>
                  <a:t>Symmetric RMS surface discrepancy (scan → simulated surface, and area-weighted simulated vertices → scan):</a:t>
                </a:r>
              </a:p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sSub>
                        <m:e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y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m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rPr>
                              <m:sty m:val="b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θ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rad>
                        <m:radPr>
                          <m:degHide m:val="1"/>
                        </m:radPr>
                        <m:deg/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d>
                            <m:dPr>
                              <m:begChr m:val="["/>
                              <m:endChr m:val="]"/>
                              <m:sepChr m:val=""/>
                              <m:grow/>
                            </m:dPr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a:rPr lang="en-US" sz="1400">
                                      <a:solidFill>
                                        <a:srgbClr val="1A1A1A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400">
                                      <a:solidFill>
                                        <a:srgbClr val="1A1A1A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N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limLoc m:val="undOvr"/>
                                  <m:subHide m:val="0"/>
                                  <m:supHide m:val="0"/>
                                </m:naryPr>
                                <m:sub>
                                  <m:r>
                                    <a:rPr lang="en-US" sz="1400">
                                      <a:solidFill>
                                        <a:srgbClr val="1A1A1A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solidFill>
                                        <a:srgbClr val="1A1A1A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=</m:t>
                                  </m:r>
                                  <m:r>
                                    <a:rPr lang="en-US" sz="1400">
                                      <a:solidFill>
                                        <a:srgbClr val="1A1A1A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400">
                                      <a:solidFill>
                                        <a:srgbClr val="1A1A1A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N</m:t>
                                  </m:r>
                                </m:sup>
                                <m:e>
                                  <m:r>
                                    <a:rPr lang="en-US" sz="1400">
                                      <a:solidFill>
                                        <a:srgbClr val="1A1A1A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d</m:t>
                                  </m:r>
                                </m:e>
                              </m:nary>
                              <m:sSup>
                                <m:e>
                                  <m:d>
                                    <m:dPr>
                                      <m:begChr m:val="("/>
                                      <m:endChr m:val=")"/>
                                      <m:sepChr m:val=""/>
                                      <m:grow/>
                                    </m:dPr>
                                    <m:e>
                                      <m:sSub>
                                        <m:e>
                                          <m:r>
                                            <m:rPr>
                                              <m:sty m:val="b"/>
                                            </m:rPr>
                                            <a:rPr lang="en-US" sz="1400">
                                              <a:solidFill>
                                                <a:srgbClr val="1A1A1A"/>
                                              </a:solidFill>
                                              <a:latin typeface="Cambria Math"/>
                                              <a:cs typeface="Cambria Math"/>
                                            </a:rPr>
                                            <m:t>y</m:t>
                                          </m:r>
                                        </m:e>
                                        <m:sub>
                                          <m:r>
                                            <a:rPr lang="en-US" sz="1400">
                                              <a:solidFill>
                                                <a:srgbClr val="1A1A1A"/>
                                              </a:solidFill>
                                              <a:latin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solidFill>
                                            <a:srgbClr val="1A1A1A"/>
                                          </a:solidFill>
                                          <a:latin typeface="Cambria Math"/>
                                          <a:cs typeface="Cambria Math"/>
                                        </a:rPr>
                                        <m:t>,</m:t>
                                      </m:r>
                                      <m:sSub>
                                        <m:e>
                                          <m:r>
                                            <a:rPr lang="en-US" sz="1400">
                                              <a:solidFill>
                                                <a:srgbClr val="1A1A1A"/>
                                              </a:solidFill>
                                              <a:latin typeface="Cambria Math"/>
                                              <a:cs typeface="Cambria Math"/>
                                            </a:rPr>
                                            <m:t>S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b"/>
                                            </m:rPr>
                                            <a:rPr lang="en-US" sz="1400">
                                              <a:solidFill>
                                                <a:srgbClr val="1A1A1A"/>
                                              </a:solidFill>
                                              <a:latin typeface="Cambria Math"/>
                                              <a:cs typeface="Cambria Math"/>
                                            </a:rPr>
                                            <m:t>θ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1400">
                                      <a:solidFill>
                                        <a:srgbClr val="1A1A1A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limLoc m:val="undOvr"/>
                                  <m:subHide m:val="0"/>
                                  <m:supHide m:val="1"/>
                                </m:naryPr>
                                <m:sub>
                                  <m:r>
                                    <a:rPr lang="en-US" sz="1400">
                                      <a:solidFill>
                                        <a:srgbClr val="1A1A1A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j</m:t>
                                  </m:r>
                                </m:sub>
                                <m:sup>
                                  <m:r>
                                    <a:rPr lang="en-US" sz="1400">
                                      <a:solidFill>
                                        <a:srgbClr val="1A1A1A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​</m:t>
                                  </m:r>
                                </m:sup>
                                <m:e>
                                  <m:sSub>
                                    <m:e>
                                      <m:r>
                                        <a:rPr lang="en-US" sz="1400">
                                          <a:solidFill>
                                            <a:srgbClr val="1A1A1A"/>
                                          </a:solidFill>
                                          <a:latin typeface="Cambria Math"/>
                                          <a:cs typeface="Cambria Math"/>
                                        </a:rPr>
                                        <m:t>w</m:t>
                                      </m:r>
                                    </m:e>
                                    <m:sub>
                                      <m:r>
                                        <a:rPr lang="en-US" sz="1400">
                                          <a:solidFill>
                                            <a:srgbClr val="1A1A1A"/>
                                          </a:solidFill>
                                          <a:latin typeface="Cambria Math"/>
                                          <a:cs typeface="Cambria Math"/>
                                        </a:rPr>
                                        <m:t>j</m:t>
                                      </m:r>
                                    </m:sub>
                                  </m:sSub>
                                </m:e>
                              </m:nary>
                              <m:limLow>
                                <m:e>
                                  <m:r>
                                    <m:rPr>
                                      <m:nor/>
                                      <m:sty m:val="p"/>
                                    </m:rPr>
                                    <a:rPr lang="en-US" sz="1400">
                                      <a:solidFill>
                                        <a:srgbClr val="1A1A1A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sz="1400">
                                      <a:solidFill>
                                        <a:srgbClr val="1A1A1A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i</m:t>
                                  </m:r>
                                </m:lim>
                              </m:limLow>
                              <m:sSup>
                                <m:e>
                                  <m:d>
                                    <m:dPr>
                                      <m:begChr m:val="∥"/>
                                      <m:endChr m:val="∥"/>
                                      <m:sepChr m:val=""/>
                                      <m:grow/>
                                    </m:dPr>
                                    <m:e>
                                      <m:sSub>
                                        <m:e>
                                          <m:r>
                                            <m:rPr>
                                              <m:sty m:val="b"/>
                                            </m:rPr>
                                            <a:rPr lang="en-US" sz="1400">
                                              <a:solidFill>
                                                <a:srgbClr val="1A1A1A"/>
                                              </a:solidFill>
                                              <a:latin typeface="Cambria Math"/>
                                              <a:cs typeface="Cambria Math"/>
                                            </a:rPr>
                                            <m:t>p</m:t>
                                          </m:r>
                                        </m:e>
                                        <m:sub>
                                          <m:r>
                                            <a:rPr lang="en-US" sz="1400">
                                              <a:solidFill>
                                                <a:srgbClr val="1A1A1A"/>
                                              </a:solidFill>
                                              <a:latin typeface="Cambria Math"/>
                                              <a:cs typeface="Cambria Math"/>
                                            </a:rPr>
                                            <m:t>j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solidFill>
                                            <a:srgbClr val="1A1A1A"/>
                                          </a:solidFill>
                                          <a:latin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sSub>
                                        <m:e>
                                          <m:r>
                                            <m:rPr>
                                              <m:sty m:val="b"/>
                                            </m:rPr>
                                            <a:rPr lang="en-US" sz="1400">
                                              <a:solidFill>
                                                <a:srgbClr val="1A1A1A"/>
                                              </a:solidFill>
                                              <a:latin typeface="Cambria Math"/>
                                              <a:cs typeface="Cambria Math"/>
                                            </a:rPr>
                                            <m:t>y</m:t>
                                          </m:r>
                                        </m:e>
                                        <m:sub>
                                          <m:r>
                                            <a:rPr lang="en-US" sz="1400">
                                              <a:solidFill>
                                                <a:srgbClr val="1A1A1A"/>
                                              </a:solidFill>
                                              <a:latin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1400">
                                      <a:solidFill>
                                        <a:srgbClr val="1A1A1A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rad>
                    </m:oMath>
                  </m:oMathPara>
                </a14:m>
              </a:p>
              <a:p>
                <a:pPr algn="l">
                  <a:spcBef>
                    <a:spcPts val="300"/>
                  </a:spcBef>
                </a:pPr>
                <a:r>
                  <a:rPr sz="1150">
                    <a:solidFill>
                      <a:srgbClr val="444444"/>
                    </a:solidFill>
                    <a:latin typeface="Calibri"/>
                  </a:rPr>
                  <a:t>yᵢ: N scan points (2 mm grid);  S_θ: simulated surface;  pⱼ: simulated vertices;  wⱼ = Aⱼ / Σₖ Aₖ (reference dual areas).</a:t>
                </a:r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502920" y="4297680"/>
                <a:ext cx="5349240" cy="2103120"/>
              </a:xfrm>
              <a:prstGeom prst="rect">
                <a:avLst/>
              </a:prstGeom>
              <a:noFill/>
            </p:spPr>
            <p:txBody>
              <a:bodyPr wrap="square" lIns="45720" rIns="45720" tIns="0" bIns="0">
                <a:spAutoFit/>
              </a:bodyPr>
              <a:lstStyle/>
              <a:p>
                <a:pPr algn="l">
                  <a:spcBef>
                    <a:spcPts val="0"/>
                  </a:spcBef>
                </a:pPr>
                <a:r>
                  <a:rPr sz="1150">
                    <a:solidFill>
                      <a:srgbClr val="444444"/>
                    </a:solidFill>
                    <a:latin typeface="Calibri"/>
                  </a:rPr>
                  <a:t>Rigid frame set by the material reference, not fitted to the scan: Kabsch rotation of deformed onto flat reference vertices; area-weighted centroid removed; scan centered.</a:t>
                </a:r>
              </a:p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sz="1400" i="1"/>
                  <a:t>R = argmin_{R∈SO(3)} Σ_j ‖R(p_j − p̄) − (X_j − X̄)‖²</a:t>
                </a:r>
              </a:p>
              <a:p>
                <a:pPr algn="l">
                  <a:spcBef>
                    <a:spcPts val="300"/>
                  </a:spcBef>
                </a:pPr>
                <a:r>
                  <a:rPr sz="1150">
                    <a:solidFill>
                      <a:srgbClr val="444444"/>
                    </a:solidFill>
                    <a:latin typeface="Calibri"/>
                  </a:rPr>
                  <a:t>Symmetric RMS surface discrepancy (scan → simulated surface, and area-weighted simulated vertices → scan):</a:t>
                </a:r>
              </a:p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sz="1400" i="1"/>
                  <a:t>L_sym = sqrt(½[(1/N)Σ d(y_i,S_θ)² + Σ w_j min_i ‖p_j − y_i‖²])</a:t>
                </a:r>
              </a:p>
              <a:p>
                <a:pPr algn="l">
                  <a:spcBef>
                    <a:spcPts val="300"/>
                  </a:spcBef>
                </a:pPr>
                <a:r>
                  <a:rPr sz="1150">
                    <a:solidFill>
                      <a:srgbClr val="444444"/>
                    </a:solidFill>
                    <a:latin typeface="Calibri"/>
                  </a:rPr>
                  <a:t>yᵢ: N scan points (2 mm grid);  S_θ: simulated surface;  pⱼ: simulated vertices;  wⱼ = Aⱼ / Σₖ Aₖ (reference dual areas).</a:t>
                </a:r>
              </a:p>
            </p:txBody>
          </p:sp>
        </mc:Fallback>
      </mc:AlternateContent>
      <p:sp>
        <p:nvSpPr>
          <p:cNvPr id="16" name="Rounded Rectangle 15"/>
          <p:cNvSpPr/>
          <p:nvPr/>
        </p:nvSpPr>
        <p:spPr>
          <a:xfrm>
            <a:off x="6199632" y="3840480"/>
            <a:ext cx="5623560" cy="260604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2700">
            <a:solidFill>
              <a:srgbClr val="C5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09360" y="3931920"/>
            <a:ext cx="329184" cy="329184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2552" y="3904488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3A5F"/>
                </a:solidFill>
                <a:latin typeface="Calibri"/>
              </a:rPr>
              <a:t>Batch Bayesian optimization (BoTorch)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6336792" y="4297680"/>
                <a:ext cx="5349240" cy="2103120"/>
              </a:xfrm>
              <a:prstGeom prst="rect">
                <a:avLst/>
              </a:prstGeom>
              <a:noFill/>
            </p:spPr>
            <p:txBody>
              <a:bodyPr wrap="square" lIns="45720" rIns="45720" tIns="0" bIns="0">
                <a:spAutoFit/>
              </a:bodyPr>
              <a:lstStyle/>
              <a:p>
                <a:pPr algn="l">
                  <a:spcBef>
                    <a:spcPts val="0"/>
                  </a:spcBef>
                </a:pPr>
                <a:r>
                  <a:rPr sz="1150">
                    <a:solidFill>
                      <a:srgbClr val="444444"/>
                    </a:solidFill>
                    <a:latin typeface="Calibri"/>
                  </a:rPr>
                  <a:t>Gaussian-process surrogate of the log-misfit with a Matérn-5/2 ARD kernel:</a:t>
                </a:r>
              </a:p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rPr>
                              <m:sty m:val="b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r>
                        <m:rPr>
                          <m:nor/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ln</m:t>
                      </m:r>
                      <m:sSub>
                        <m:e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y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m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rPr>
                              <m:sty m:val="b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∼</m:t>
                      </m:r>
                      <m:r>
                        <m:rPr>
                          <m:sty m:val="p"/>
                          <m:scr m:val="script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G</m:t>
                      </m:r>
                      <m:r>
                        <m:rPr>
                          <m:sty m:val="p"/>
                          <m:scr m:val="script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μ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,</m:t>
                          </m:r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 </m:t>
                          </m:r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k</m:t>
                          </m:r>
                        </m:e>
                      </m:d>
                    </m:oMath>
                  </m:oMathPara>
                </a14:m>
              </a:p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k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rPr>
                              <m:sty m:val="b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,</m:t>
                          </m:r>
                          <m:sSup>
                            <m:e>
                              <m:r>
                                <m:rPr>
                                  <m:sty m:val="b"/>
                                </m:rP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σ</m:t>
                          </m:r>
                        </m:e>
                        <m:sup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rad>
                            <m:radPr>
                              <m:degHide m:val="1"/>
                            </m:radPr>
                            <m:deg/>
                            <m:e>
                              <m: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5</m:t>
                              </m:r>
                            </m:e>
                          </m:rad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 </m:t>
                          </m:r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r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3</m:t>
                              </m:r>
                            </m:den>
                          </m:f>
                          <m:sSup>
                            <m:e>
                              <m: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sSup>
                        <m:e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rad>
                            <m:radPr>
                              <m:degHide m:val="1"/>
                            </m:radPr>
                            <m:deg/>
                            <m:e>
                              <m: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5</m:t>
                              </m:r>
                            </m:e>
                          </m:rad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 </m:t>
                          </m:r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r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,</m:t>
                      </m:r>
                      <m: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 </m:t>
                      </m:r>
                      <m:sSup>
                        <m:e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r</m:t>
                          </m:r>
                        </m:e>
                        <m:sup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0"/>
                          <m:supHide m:val="0"/>
                        </m:naryPr>
                        <m:sub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=</m:t>
                          </m:r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4</m:t>
                          </m:r>
                        </m:sup>
                        <m:e>
                          <m:f>
                            <m:fPr>
                              <m:type m:val="bar"/>
                            </m:fPr>
                            <m:num>
                              <m:sSup>
                                <m:e>
                                  <m:d>
                                    <m:dPr>
                                      <m:begChr m:val="("/>
                                      <m:endChr m:val=")"/>
                                      <m:sepChr m:val=""/>
                                      <m:grow/>
                                    </m:dPr>
                                    <m:e>
                                      <m:sSub>
                                        <m:e>
                                          <m:r>
                                            <a:rPr lang="en-US" sz="1400">
                                              <a:solidFill>
                                                <a:srgbClr val="1A1A1A"/>
                                              </a:solidFill>
                                              <a:latin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lang="en-US" sz="1400">
                                              <a:solidFill>
                                                <a:srgbClr val="1A1A1A"/>
                                              </a:solidFill>
                                              <a:latin typeface="Cambria Math"/>
                                              <a:cs typeface="Cambria Math"/>
                                            </a:rPr>
                                            <m:t>d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solidFill>
                                            <a:srgbClr val="1A1A1A"/>
                                          </a:solidFill>
                                          <a:latin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sSubSup>
                                        <m:e>
                                          <m:r>
                                            <a:rPr lang="en-US" sz="1400">
                                              <a:solidFill>
                                                <a:srgbClr val="1A1A1A"/>
                                              </a:solidFill>
                                              <a:latin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lang="en-US" sz="1400">
                                              <a:solidFill>
                                                <a:srgbClr val="1A1A1A"/>
                                              </a:solidFill>
                                              <a:latin typeface="Cambria Math"/>
                                              <a:cs typeface="Cambria Math"/>
                                            </a:rPr>
                                            <m:t>d</m:t>
                                          </m:r>
                                        </m:sub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>
                                              <a:solidFill>
                                                <a:srgbClr val="1A1A1A"/>
                                              </a:solidFill>
                                              <a:latin typeface="Cambria Math"/>
                                              <a:cs typeface="Cambria Math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sz="1400">
                                      <a:solidFill>
                                        <a:srgbClr val="1A1A1A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solidFill>
                                        <a:srgbClr val="1A1A1A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ℓ</m:t>
                                  </m:r>
                                </m:e>
                                <m:sub>
                                  <m:r>
                                    <a:rPr lang="en-US" sz="1400">
                                      <a:solidFill>
                                        <a:srgbClr val="1A1A1A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d</m:t>
                                  </m:r>
                                </m:sub>
                                <m:sup>
                                  <m:r>
                                    <a:rPr lang="en-US" sz="1400">
                                      <a:solidFill>
                                        <a:srgbClr val="1A1A1A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nary>
                    </m:oMath>
                  </m:oMathPara>
                </a14:m>
              </a:p>
              <a:p>
                <a:pPr algn="l">
                  <a:spcBef>
                    <a:spcPts val="300"/>
                  </a:spcBef>
                </a:pPr>
                <a:r>
                  <a:rPr sz="1150">
                    <a:solidFill>
                      <a:srgbClr val="444444"/>
                    </a:solidFill>
                    <a:latin typeface="Calibri"/>
                  </a:rPr>
                  <a:t>Each wave proposes q = 4 parallel solves by maximizing batch log expected improvement (qLogEI):</a:t>
                </a:r>
              </a:p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m:rPr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{</m:t>
                      </m:r>
                      <m:sSub>
                        <m:e>
                          <m:r>
                            <m:rPr>
                              <m:sty m:val="b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…</m:t>
                      </m:r>
                      <m:r>
                        <m:rPr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,</m:t>
                      </m:r>
                      <m:sSub>
                        <m:e>
                          <m:r>
                            <m:rPr>
                              <m:sty m:val="b"/>
                            </m:rP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1400">
                              <a:solidFill>
                                <a:srgbClr val="1A1A1A"/>
                              </a:solidFill>
                              <a:latin typeface="Cambria Math"/>
                              <a:cs typeface="Cambria Math"/>
                            </a:rPr>
                            <m:t>4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}</m:t>
                      </m:r>
                      <m:r>
                        <m:rPr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r>
                        <m:rPr>
                          <m:nor/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arg</m:t>
                      </m:r>
                      <m:r>
                        <m:rPr>
                          <m:nor/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max</m:t>
                      </m:r>
                      <m: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 </m:t>
                      </m:r>
                      <m:r>
                        <m:rPr>
                          <m:nor/>
                          <m:sty m:val="p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ln</m:t>
                      </m:r>
                      <m:r>
                        <m:rPr>
                          <m:sty m:val="p"/>
                          <m:scr m:val="double-struck"/>
                        </m:rPr>
                        <a:rPr lang="en-US" sz="1400">
                          <a:solidFill>
                            <a:srgbClr val="1A1A1A"/>
                          </a:solidFill>
                          <a:latin typeface="Cambria Math"/>
                          <a:cs typeface="Cambria Math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sepChr m:val=""/>
                          <m:grow/>
                        </m:dPr>
                        <m:e>
                          <m:limLow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j</m:t>
                              </m:r>
                            </m:lim>
                          </m:limLow>
                          <m:sSub>
                            <m:e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a:rPr lang="en-US" sz="1400">
                                      <a:solidFill>
                                        <a:srgbClr val="1A1A1A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f</m:t>
                                  </m:r>
                                  <m:d>
                                    <m:dPr>
                                      <m:begChr m:val="("/>
                                      <m:endChr m:val=")"/>
                                      <m:sepChr m:val=""/>
                                      <m:grow/>
                                    </m:dPr>
                                    <m:e>
                                      <m:sSub>
                                        <m:e>
                                          <m:r>
                                            <m:rPr>
                                              <m:sty m:val="b"/>
                                            </m:rPr>
                                            <a:rPr lang="en-US" sz="1400">
                                              <a:solidFill>
                                                <a:srgbClr val="1A1A1A"/>
                                              </a:solidFill>
                                              <a:latin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lang="en-US" sz="1400">
                                              <a:solidFill>
                                                <a:srgbClr val="1A1A1A"/>
                                              </a:solidFill>
                                              <a:latin typeface="Cambria Math"/>
                                              <a:cs typeface="Cambria Math"/>
                                            </a:rPr>
                                            <m:t>j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solidFill>
                                        <a:srgbClr val="1A1A1A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−</m:t>
                                  </m:r>
                                  <m:sSup>
                                    <m:e>
                                      <m:r>
                                        <a:rPr lang="en-US" sz="1400">
                                          <a:solidFill>
                                            <a:srgbClr val="1A1A1A"/>
                                          </a:solidFill>
                                          <a:latin typeface="Cambria Math"/>
                                          <a:cs typeface="Cambria Math"/>
                                        </a:rPr>
                                        <m:t>f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>
                                          <a:solidFill>
                                            <a:srgbClr val="1A1A1A"/>
                                          </a:solidFill>
                                          <a:latin typeface="Cambria Math"/>
                                          <a:cs typeface="Cambria Math"/>
                                        </a:rPr>
                                        <m:t>*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>
                                  <a:solidFill>
                                    <a:srgbClr val="1A1A1A"/>
                                  </a:solidFill>
                                  <a:latin typeface="Cambria Math"/>
                                  <a:cs typeface="Cambria Math"/>
                                </a:rPr>
                                <m:t>+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  <a:p>
                <a:pPr algn="l">
                  <a:spcBef>
                    <a:spcPts val="300"/>
                  </a:spcBef>
                </a:pPr>
                <a:r>
                  <a:rPr sz="1150">
                    <a:solidFill>
                      <a:srgbClr val="444444"/>
                    </a:solidFill>
                    <a:latin typeface="Calibri"/>
                  </a:rPr>
                  <a:t>Failed/timed-out solves are excluded from the GP; proposals keep ‖Δx‖ ≥ 0.08; stop at the evaluation budget or 6 consecutive failures.</a:t>
                </a:r>
              </a:p>
            </p:txBody>
          </p:sp>
        </mc:Choice>
        <mc:Fallback>
          <p:sp>
            <p:nvSpPr>
              <p:cNvPr id="19" name="TextBox 18"/>
              <p:cNvSpPr txBox="1"/>
              <p:nvPr/>
            </p:nvSpPr>
            <p:spPr>
              <a:xfrm>
                <a:off x="6336792" y="4297680"/>
                <a:ext cx="5349240" cy="2103120"/>
              </a:xfrm>
              <a:prstGeom prst="rect">
                <a:avLst/>
              </a:prstGeom>
              <a:noFill/>
            </p:spPr>
            <p:txBody>
              <a:bodyPr wrap="square" lIns="45720" rIns="45720" tIns="0" bIns="0">
                <a:spAutoFit/>
              </a:bodyPr>
              <a:lstStyle/>
              <a:p>
                <a:pPr algn="l">
                  <a:spcBef>
                    <a:spcPts val="0"/>
                  </a:spcBef>
                </a:pPr>
                <a:r>
                  <a:rPr sz="1150">
                    <a:solidFill>
                      <a:srgbClr val="444444"/>
                    </a:solidFill>
                    <a:latin typeface="Calibri"/>
                  </a:rPr>
                  <a:t>Gaussian-process surrogate of the log-misfit with a Matérn-5/2 ARD kernel:</a:t>
                </a:r>
              </a:p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sz="1400" i="1"/>
                  <a:t>f(x) = −ln L_sym(x) ~ GP(μ, k)</a:t>
                </a:r>
              </a:p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sz="1400" i="1"/>
                  <a:t>k = σ²(1 + √5 r + 5r²/3) exp(−√5 r)</a:t>
                </a:r>
              </a:p>
              <a:p>
                <a:pPr algn="l">
                  <a:spcBef>
                    <a:spcPts val="300"/>
                  </a:spcBef>
                </a:pPr>
                <a:r>
                  <a:rPr sz="1150">
                    <a:solidFill>
                      <a:srgbClr val="444444"/>
                    </a:solidFill>
                    <a:latin typeface="Calibri"/>
                  </a:rPr>
                  <a:t>Each wave proposes q = 4 parallel solves by maximizing batch log expected improvement (qLogEI):</a:t>
                </a:r>
              </a:p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sz="1400" i="1"/>
                  <a:t>{x_1..x_4} = argmax ln E[max_j (f(x_j) − f*)_+]</a:t>
                </a:r>
              </a:p>
              <a:p>
                <a:pPr algn="l">
                  <a:spcBef>
                    <a:spcPts val="300"/>
                  </a:spcBef>
                </a:pPr>
                <a:r>
                  <a:rPr sz="1150">
                    <a:solidFill>
                      <a:srgbClr val="444444"/>
                    </a:solidFill>
                    <a:latin typeface="Calibri"/>
                  </a:rPr>
                  <a:t>Failed/timed-out solves are excluded from the GP; proposals keep ‖Δx‖ ≥ 0.08; stop at the evaluation budget or 6 consecutive failures.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707070"/>
                </a:solidFill>
                <a:latin typeface="Calibri"/>
              </a:rPr>
              <a:t>Implementation: calibration/ewcal (runner.py, material_frame.py, geometry.py, batch_bayes.py); shell solver src/simulations/Sim_Bilayer_Growth.cpp.   Run6 continuation (in progress, 14 Oct 2026): best L_sym = 1.18 mm (Attempt 187).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